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CampusCred, a full-stack digital repository, verification engine, and corporate recruiter talent hub engineered for academic institutions.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Currently, students lose track of their achievements, universities struggle to compile NAAC/NIRF audit reports, and recruiters cannot verify whether certificate claims are real without slow, expensive background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CampusCred creates a three-sided ecosystem: students get a permanent verified portfolio, institutions get automated governance and audit analytics, and recruiters get a trusted pool of collegiate talent.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CampusCred is built on a battle-tested, high-performance stack: PHP 8+, MySQL, Bootstrap 5, Chart.js, and client-side QR generation, engineered for zero-downtime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Recruiter Portal transforms the campus placement process. Companies can discover verified collegiate achievers, inspect original certificate proofs, and dispatch job offers directly through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achievement has cryptographic integrity: binary SHA-256 hashing, UUID tokens, dynamic QR codes, and a public verification registry that stops resume fraud in its tracks.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students, CampusCred is more than storage—it is their verified career launchpad with certified transcript generation, skills management, and corporate inquiry inboxes.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Colleges face immense administrative burden during NAAC/NIRF audits. CampusCred automates Criterion 5 data collection, offering instant audit-ready CSV exports and real-time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CampusCred was engineered from day one for universal use: any institution can rebrand it in 30 seconds via config.php, and its self-healing database eliminates manual SQL migration errors.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CampusCred is already deployed across both local development, local Wi-Fi LAN, live free cloud hosting on InfinityFree, and is ready for enterprise cloud deployment via Docker.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roadmap includes AI-driven optical character recognition to auto-parse certificates, blockchain-anchored W3C verifiable credentials, and enterprise placement drive tools.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The demo credentials on this slide allow anyone to explore the student, recruiter, and administrator portals. We are now open for questions and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292608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ACADEMIC &amp; RECRUITMENT SAAS</a:t>
            </a:r>
          </a:p>
        </p:txBody>
      </p:sp>
      <p:sp>
        <p:nvSpPr>
          <p:cNvPr id="4" name="TextBox 3"/>
          <p:cNvSpPr txBox="1"/>
          <p:nvPr/>
        </p:nvSpPr>
        <p:spPr>
          <a:xfrm>
            <a:off x="731520" y="1554480"/>
            <a:ext cx="10515600" cy="1463040"/>
          </a:xfrm>
          <a:prstGeom prst="rect">
            <a:avLst/>
          </a:prstGeom>
          <a:noFill/>
        </p:spPr>
        <p:txBody>
          <a:bodyPr wrap="none">
            <a:spAutoFit/>
          </a:bodyPr>
          <a:lstStyle/>
          <a:p>
            <a:pPr>
              <a:defRPr sz="4600" b="1">
                <a:solidFill>
                  <a:srgbClr val="FFFFFF"/>
                </a:solidFill>
              </a:defRPr>
            </a:pPr>
            <a:r>
              <a:t>CampusCred</a:t>
            </a:r>
          </a:p>
          <a:p>
            <a:pPr>
              <a:defRPr sz="2400" b="1">
                <a:solidFill>
                  <a:srgbClr val="F59E0B"/>
                </a:solidFill>
              </a:defRPr>
            </a:pPr>
            <a:r>
              <a:t>Student Participation &amp; Achievement Management System</a:t>
            </a:r>
          </a:p>
        </p:txBody>
      </p:sp>
      <p:sp>
        <p:nvSpPr>
          <p:cNvPr id="5" name="TextBox 4"/>
          <p:cNvSpPr txBox="1"/>
          <p:nvPr/>
        </p:nvSpPr>
        <p:spPr>
          <a:xfrm>
            <a:off x="731520" y="3108960"/>
            <a:ext cx="10515600" cy="1097280"/>
          </a:xfrm>
          <a:prstGeom prst="rect">
            <a:avLst/>
          </a:prstGeom>
          <a:noFill/>
        </p:spPr>
        <p:txBody>
          <a:bodyPr wrap="square">
            <a:spAutoFit/>
          </a:bodyPr>
          <a:lstStyle/>
          <a:p>
            <a:pPr>
              <a:defRPr sz="1400">
                <a:solidFill>
                  <a:srgbClr val="CBD5E1"/>
                </a:solidFill>
              </a:defRPr>
            </a:pPr>
            <a:r>
              <a:t>A comprehensive centralized digital repository, tamper-evident cryptographic credential verification engine, and corporate recruiter talent discovery portal for modern institutions.</a:t>
            </a:r>
          </a:p>
        </p:txBody>
      </p:sp>
      <p:sp>
        <p:nvSpPr>
          <p:cNvPr id="6" name="Rounded Rectangle 5"/>
          <p:cNvSpPr/>
          <p:nvPr/>
        </p:nvSpPr>
        <p:spPr>
          <a:xfrm>
            <a:off x="731520" y="4663440"/>
            <a:ext cx="3291840" cy="13716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INSTITUTION &amp; PROJECT</a:t>
            </a:r>
          </a:p>
          <a:p>
            <a:pPr>
              <a:defRPr sz="1200">
                <a:solidFill>
                  <a:srgbClr val="FFFFFF"/>
                </a:solidFill>
              </a:defRPr>
            </a:pPr>
            <a:r>
              <a:t>SKIT Jaipur · Code: SKIT021</a:t>
            </a:r>
            <a:br/>
            <a:r>
              <a:t>Configurable for Any University</a:t>
            </a:r>
          </a:p>
        </p:txBody>
      </p:sp>
      <p:sp>
        <p:nvSpPr>
          <p:cNvPr id="7" name="Rounded Rectangle 6"/>
          <p:cNvSpPr/>
          <p:nvPr/>
        </p:nvSpPr>
        <p:spPr>
          <a:xfrm>
            <a:off x="4297680" y="4663440"/>
            <a:ext cx="3291840" cy="13716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CORE CAPABILITIES</a:t>
            </a:r>
          </a:p>
          <a:p>
            <a:pPr>
              <a:defRPr sz="1200">
                <a:solidFill>
                  <a:srgbClr val="FFFFFF"/>
                </a:solidFill>
              </a:defRPr>
            </a:pPr>
            <a:r>
              <a:t>SHA-256 Hashes · Recruiter Portal</a:t>
            </a:r>
            <a:br/>
            <a:r>
              <a:t>QR Code Proofs · NAAC/NIRF Audits</a:t>
            </a:r>
          </a:p>
        </p:txBody>
      </p:sp>
      <p:sp>
        <p:nvSpPr>
          <p:cNvPr id="8" name="Rounded Rectangle 7"/>
          <p:cNvSpPr/>
          <p:nvPr/>
        </p:nvSpPr>
        <p:spPr>
          <a:xfrm>
            <a:off x="7863840" y="4663440"/>
            <a:ext cx="3566160" cy="13716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defRPr>
            </a:pPr>
            <a:r>
              <a:t>DEPLOYMENT READY</a:t>
            </a:r>
          </a:p>
          <a:p>
            <a:pPr>
              <a:defRPr sz="1200">
                <a:solidFill>
                  <a:srgbClr val="FFFFFF"/>
                </a:solidFill>
              </a:defRPr>
            </a:pPr>
            <a:r>
              <a:t>Docker · Apache/PHP 8+ · MySQL</a:t>
            </a:r>
            <a:br/>
            <a:r>
              <a:t>Live on InfinityFree &amp; Cloud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PROBLEM &amp; MARKET NEED</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The Challenge: Broken Credentialing &amp; Talent Discovery</a:t>
            </a:r>
          </a:p>
        </p:txBody>
      </p:sp>
      <p:sp>
        <p:nvSpPr>
          <p:cNvPr id="4" name="Rounded Rectangle 3"/>
          <p:cNvSpPr/>
          <p:nvPr/>
        </p:nvSpPr>
        <p:spPr>
          <a:xfrm>
            <a:off x="731520" y="1554480"/>
            <a:ext cx="32918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 Student Fragmentation</a:t>
            </a:r>
          </a:p>
          <a:p>
            <a:br/>
            <a:pPr>
              <a:defRPr sz="1200">
                <a:solidFill>
                  <a:srgbClr val="64748B"/>
                </a:solidFill>
              </a:defRPr>
            </a:pPr>
            <a:r>
              <a:t>• Lost Paper &amp; Scattered PDFs: Certificates misplaced across drives and paper folders.</a:t>
            </a:r>
            <a:br/>
            <a:br/>
            <a:r>
              <a:t>• Zero Verified Digital Identity: Resumes are self-claimed without instant proof.</a:t>
            </a:r>
            <a:br/>
            <a:br/>
            <a:r>
              <a:t>• Missed Job Opportunities: No direct channel to show verified extracurricular excellence to employers.</a:t>
            </a:r>
          </a:p>
        </p:txBody>
      </p:sp>
      <p:sp>
        <p:nvSpPr>
          <p:cNvPr id="5" name="Rounded Rectangle 4"/>
          <p:cNvSpPr/>
          <p:nvPr/>
        </p:nvSpPr>
        <p:spPr>
          <a:xfrm>
            <a:off x="4297680" y="1554480"/>
            <a:ext cx="32918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 Institutional Friction</a:t>
            </a:r>
          </a:p>
          <a:p>
            <a:br/>
            <a:pPr>
              <a:defRPr sz="1200">
                <a:solidFill>
                  <a:srgbClr val="64748B"/>
                </a:solidFill>
              </a:defRPr>
            </a:pPr>
            <a:r>
              <a:t>• Exhausting Accreditation Audits: Gathering student data for NAAC, NBA, and NIRF takes weeks of manual paperwork.</a:t>
            </a:r>
            <a:br/>
            <a:br/>
            <a:r>
              <a:t>• Inefficient Faculty Review: Professors overwhelmed reviewing unstandardized proofs.</a:t>
            </a:r>
            <a:br/>
            <a:br/>
            <a:r>
              <a:t>• Data Silos: No unified cross-department achievement analytics.</a:t>
            </a:r>
          </a:p>
        </p:txBody>
      </p:sp>
      <p:sp>
        <p:nvSpPr>
          <p:cNvPr id="6" name="Rounded Rectangle 5"/>
          <p:cNvSpPr/>
          <p:nvPr/>
        </p:nvSpPr>
        <p:spPr>
          <a:xfrm>
            <a:off x="7863840" y="1554480"/>
            <a:ext cx="32918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 Recruiter Blind Spots</a:t>
            </a:r>
          </a:p>
          <a:p>
            <a:br/>
            <a:pPr>
              <a:defRPr sz="1200">
                <a:solidFill>
                  <a:srgbClr val="64748B"/>
                </a:solidFill>
              </a:defRPr>
            </a:pPr>
            <a:r>
              <a:t>• Rampant Resume Fraud: Over 40% of resumes contain exaggerated or forged certificates.</a:t>
            </a:r>
            <a:br/>
            <a:br/>
            <a:r>
              <a:t>• No Authentic Proof: Background checks take weeks and cost hundreds of dollars per candidate.</a:t>
            </a:r>
            <a:br/>
            <a:br/>
            <a:r>
              <a:t>• Limited Talent Sourcing: Unable to filter students by proven verified skills and hackathon track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VALUE PROPOSITION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The Solution: A Centralized, Cryptographically Verified Platform</a:t>
            </a:r>
          </a:p>
        </p:txBody>
      </p:sp>
      <p:sp>
        <p:nvSpPr>
          <p:cNvPr id="4" name="Rounded Rectangle 3"/>
          <p:cNvSpPr/>
          <p:nvPr/>
        </p:nvSpPr>
        <p:spPr>
          <a:xfrm>
            <a:off x="731520" y="1463040"/>
            <a:ext cx="10698480" cy="118872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563EB"/>
                </a:solidFill>
              </a:defRPr>
            </a:pPr>
            <a:r>
              <a:t>💡 CampusCred Bridges Students, Institutions, and Corporate Recruiters</a:t>
            </a:r>
          </a:p>
          <a:p>
            <a:pPr>
              <a:defRPr sz="1200">
                <a:solidFill>
                  <a:srgbClr val="0F172A"/>
                </a:solidFill>
              </a:defRPr>
            </a:pPr>
            <a:r>
              <a:t>A modern web platform combining automated achievement submission, multi-tier faculty verification, tamper-evident cryptographic security (SHA-256 + QR codes), and a dedicated corporate talent marketplace.</a:t>
            </a:r>
          </a:p>
        </p:txBody>
      </p:sp>
      <p:sp>
        <p:nvSpPr>
          <p:cNvPr id="5" name="Rounded Rectangle 4"/>
          <p:cNvSpPr/>
          <p:nvPr/>
        </p:nvSpPr>
        <p:spPr>
          <a:xfrm>
            <a:off x="731520" y="292608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1. Student Empowerment</a:t>
            </a:r>
          </a:p>
          <a:p>
            <a:br/>
            <a:pPr>
              <a:defRPr sz="1200">
                <a:solidFill>
                  <a:srgbClr val="64748B"/>
                </a:solidFill>
              </a:defRPr>
            </a:pPr>
            <a:r>
              <a:t>• Permanent digital dossier</a:t>
            </a:r>
            <a:br/>
            <a:r>
              <a:t>• 1-Click certified transcripts</a:t>
            </a:r>
            <a:br/>
            <a:r>
              <a:t>• Career tags &amp; headline management</a:t>
            </a:r>
            <a:br/>
            <a:r>
              <a:t>• Direct interview offers from top firms</a:t>
            </a:r>
            <a:br/>
            <a:r>
              <a:t>• Public QR-enabled portfolio link</a:t>
            </a:r>
          </a:p>
        </p:txBody>
      </p:sp>
      <p:sp>
        <p:nvSpPr>
          <p:cNvPr id="6" name="Rounded Rectangle 5"/>
          <p:cNvSpPr/>
          <p:nvPr/>
        </p:nvSpPr>
        <p:spPr>
          <a:xfrm>
            <a:off x="4389120" y="292608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2. Institutional Governance</a:t>
            </a:r>
          </a:p>
          <a:p>
            <a:br/>
            <a:pPr>
              <a:defRPr sz="1200">
                <a:solidFill>
                  <a:srgbClr val="64748B"/>
                </a:solidFill>
              </a:defRPr>
            </a:pPr>
            <a:r>
              <a:t>• Streamlined faculty verification queue</a:t>
            </a:r>
            <a:br/>
            <a:r>
              <a:t>• Automated SHA-256 integrity seal</a:t>
            </a:r>
            <a:br/>
            <a:r>
              <a:t>• Instant NAAC/NIRF metrics export</a:t>
            </a:r>
            <a:br/>
            <a:r>
              <a:t>• Interactive Chart.js analytics</a:t>
            </a:r>
            <a:br/>
            <a:r>
              <a:t>• Anti-tamper audit logging</a:t>
            </a:r>
          </a:p>
        </p:txBody>
      </p:sp>
      <p:sp>
        <p:nvSpPr>
          <p:cNvPr id="7" name="Rounded Rectangle 6"/>
          <p:cNvSpPr/>
          <p:nvPr/>
        </p:nvSpPr>
        <p:spPr>
          <a:xfrm>
            <a:off x="8046720" y="292608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3. Recruiter Talent Portal</a:t>
            </a:r>
          </a:p>
          <a:p>
            <a:br/>
            <a:pPr>
              <a:defRPr sz="1200">
                <a:solidFill>
                  <a:srgbClr val="64748B"/>
                </a:solidFill>
              </a:defRPr>
            </a:pPr>
            <a:r>
              <a:t>• Filter talent by verified skills &amp; CGPA</a:t>
            </a:r>
            <a:br/>
            <a:r>
              <a:t>• Inspect original certificate proofs</a:t>
            </a:r>
            <a:br/>
            <a:r>
              <a:t>• Cryptographic proof validation</a:t>
            </a:r>
            <a:br/>
            <a:r>
              <a:t>• 5-stage recruitment pipeline</a:t>
            </a:r>
            <a:br/>
            <a:r>
              <a:t>• Direct interview inquiry dispatcher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TECHNICAL ARCHITECTURE</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Engineering &amp; Technology Architecture</a:t>
            </a:r>
          </a:p>
        </p:txBody>
      </p:sp>
      <p:sp>
        <p:nvSpPr>
          <p:cNvPr id="4" name="Rounded Rectangle 3"/>
          <p:cNvSpPr/>
          <p:nvPr/>
        </p:nvSpPr>
        <p:spPr>
          <a:xfrm>
            <a:off x="731520" y="1554480"/>
            <a:ext cx="51206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 Backend Core &amp; Business Logic</a:t>
            </a:r>
          </a:p>
          <a:p>
            <a:pPr>
              <a:defRPr sz="1100">
                <a:solidFill>
                  <a:srgbClr val="64748B"/>
                </a:solidFill>
              </a:defRPr>
            </a:pPr>
            <a:r>
              <a:t>• PHP 8.2+ Modern OOP with PDO Prepared Statements</a:t>
            </a:r>
            <a:br/>
            <a:r>
              <a:t>• Role-Based Access Control (Student, Admin, Recruiter)</a:t>
            </a:r>
            <a:br/>
            <a:r>
              <a:t>• Self-Healing Database Auto-Migrations (auto_migrate_schema)</a:t>
            </a:r>
            <a:br/>
            <a:r>
              <a:t>• Dynamic base URL auto-detection for Docker &amp; Cloud</a:t>
            </a:r>
          </a:p>
        </p:txBody>
      </p:sp>
      <p:sp>
        <p:nvSpPr>
          <p:cNvPr id="5" name="Rounded Rectangle 4"/>
          <p:cNvSpPr/>
          <p:nvPr/>
        </p:nvSpPr>
        <p:spPr>
          <a:xfrm>
            <a:off x="6217920" y="1554480"/>
            <a:ext cx="51206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 Relational Database &amp; Security</a:t>
            </a:r>
          </a:p>
          <a:p>
            <a:pPr>
              <a:defRPr sz="1100">
                <a:solidFill>
                  <a:srgbClr val="64748B"/>
                </a:solidFill>
              </a:defRPr>
            </a:pPr>
            <a:r>
              <a:t>• MySQL 8.0 InnoDB Engine with Foreign Key Integrity</a:t>
            </a:r>
            <a:br/>
            <a:r>
              <a:t>• Strict Schema: users, activities, bookmarks, inquiries, logs</a:t>
            </a:r>
            <a:br/>
            <a:r>
              <a:t>• Cryptographic SHA-256 Document Hashing &amp; UUIDv4 Tokens</a:t>
            </a:r>
            <a:br/>
            <a:r>
              <a:t>• CSRF tokens, strict MIME type validation &amp; XSS sanitization</a:t>
            </a:r>
          </a:p>
        </p:txBody>
      </p:sp>
      <p:sp>
        <p:nvSpPr>
          <p:cNvPr id="6" name="Rounded Rectangle 5"/>
          <p:cNvSpPr/>
          <p:nvPr/>
        </p:nvSpPr>
        <p:spPr>
          <a:xfrm>
            <a:off x="731520" y="3931920"/>
            <a:ext cx="51206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 Frontend &amp; Modern Design System</a:t>
            </a:r>
          </a:p>
          <a:p>
            <a:pPr>
              <a:defRPr sz="1100">
                <a:solidFill>
                  <a:srgbClr val="64748B"/>
                </a:solidFill>
              </a:defRPr>
            </a:pPr>
            <a:r>
              <a:t>• Google Fonts: Outfit (Headings) + Plus Jakarta Sans (Body)</a:t>
            </a:r>
            <a:br/>
            <a:r>
              <a:t>• Glassmorphism Navigation Bar with Gold-Rimmed Emblems</a:t>
            </a:r>
            <a:br/>
            <a:r>
              <a:t>• Interactive Metric KPI Cards with Smooth Micro-Elevations</a:t>
            </a:r>
            <a:br/>
            <a:r>
              <a:t>• Standalone client-side QR Engine + Chart.js Analytics</a:t>
            </a:r>
          </a:p>
        </p:txBody>
      </p:sp>
      <p:sp>
        <p:nvSpPr>
          <p:cNvPr id="7" name="Rounded Rectangle 6"/>
          <p:cNvSpPr/>
          <p:nvPr/>
        </p:nvSpPr>
        <p:spPr>
          <a:xfrm>
            <a:off x="6217920" y="3931920"/>
            <a:ext cx="512064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F172A"/>
                </a:solidFill>
              </a:defRPr>
            </a:pPr>
            <a:r>
              <a:t>🚀 Containerization &amp; Deployment</a:t>
            </a:r>
          </a:p>
          <a:p>
            <a:pPr>
              <a:defRPr sz="1100">
                <a:solidFill>
                  <a:srgbClr val="64748B"/>
                </a:solidFill>
              </a:defRPr>
            </a:pPr>
            <a:r>
              <a:t>• Dockerfile &amp; docker-compose.yml multi-container setup</a:t>
            </a:r>
            <a:br/>
            <a:r>
              <a:t>• InfinityFree &amp; Shared Hosting Web Installer (install.php)</a:t>
            </a:r>
            <a:br/>
            <a:r>
              <a:t>• Apache .htaccess security rules &amp; proxy SSL detection</a:t>
            </a:r>
            <a:br/>
            <a:r>
              <a:t>• 1-Click Windows Production Launcher (deploy.bat)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RECRUITER CAPABILITIES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Corporate Recruiter Portal: Verified Talent Acquisition</a:t>
            </a:r>
          </a:p>
        </p:txBody>
      </p:sp>
      <p:sp>
        <p:nvSpPr>
          <p:cNvPr id="4" name="Rounded Rectangle 3"/>
          <p:cNvSpPr/>
          <p:nvPr/>
        </p:nvSpPr>
        <p:spPr>
          <a:xfrm>
            <a:off x="7315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Smart Talent Discovery</a:t>
            </a:r>
          </a:p>
          <a:p>
            <a:br/>
            <a:pPr>
              <a:defRPr sz="1200">
                <a:solidFill>
                  <a:srgbClr val="64748B"/>
                </a:solidFill>
              </a:defRPr>
            </a:pPr>
            <a:r>
              <a:t>• Multi-Attribute Filtering: Filter by branch, department, verified achievements count, and CGPA.</a:t>
            </a:r>
            <a:br/>
            <a:br/>
            <a:r>
              <a:t>• Instant Skill Search: Search candidates by technical proficiencies (Python, React, AWS, AI).</a:t>
            </a:r>
            <a:br/>
            <a:br/>
            <a:r>
              <a:t>• Open-to-Work Signals: Identify students actively seeking internships or full-time placement.</a:t>
            </a:r>
          </a:p>
        </p:txBody>
      </p:sp>
      <p:sp>
        <p:nvSpPr>
          <p:cNvPr id="5" name="Rounded Rectangle 4"/>
          <p:cNvSpPr/>
          <p:nvPr/>
        </p:nvSpPr>
        <p:spPr>
          <a:xfrm>
            <a:off x="43891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Candidate Dossier &amp; Proofs</a:t>
            </a:r>
          </a:p>
          <a:p>
            <a:br/>
            <a:pPr>
              <a:defRPr sz="1200">
                <a:solidFill>
                  <a:srgbClr val="64748B"/>
                </a:solidFill>
              </a:defRPr>
            </a:pPr>
            <a:r>
              <a:t>• Comprehensive Chronology: Complete audit-verified record of hackathons, publications, and awards.</a:t>
            </a:r>
            <a:br/>
            <a:br/>
            <a:r>
              <a:t>• In-Browser Certificate Viewer: Inspect original PDF or high-res image documents in a modal window.</a:t>
            </a:r>
            <a:br/>
            <a:br/>
            <a:r>
              <a:t>• Cryptographic Authenticity: Displays SHA-256 fingerprint matching the institution's sealed record.</a:t>
            </a:r>
          </a:p>
        </p:txBody>
      </p:sp>
      <p:sp>
        <p:nvSpPr>
          <p:cNvPr id="6" name="Rounded Rectangle 5"/>
          <p:cNvSpPr/>
          <p:nvPr/>
        </p:nvSpPr>
        <p:spPr>
          <a:xfrm>
            <a:off x="80467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Pipeline &amp; Offer Dispatch</a:t>
            </a:r>
          </a:p>
          <a:p>
            <a:br/>
            <a:pPr>
              <a:defRPr sz="1200">
                <a:solidFill>
                  <a:srgbClr val="64748B"/>
                </a:solidFill>
              </a:defRPr>
            </a:pPr>
            <a:r>
              <a:t>• 5-Stage Hiring Pipeline: Track candidates across Saved, Screening, Interviewing, Offered, Archived.</a:t>
            </a:r>
            <a:br/>
            <a:br/>
            <a:r>
              <a:t>• Private Recruiter Notes: Record internal team evaluations directly on candidate cards.</a:t>
            </a:r>
            <a:br/>
            <a:br/>
            <a:r>
              <a:t>• Direct Interview Offers: Send formal inquiries with role, compensation, and interview 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SECURITY &amp; VERIFICATION</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Tamper-Evident Cryptographic Credentialing</a:t>
            </a:r>
          </a:p>
        </p:txBody>
      </p:sp>
      <p:sp>
        <p:nvSpPr>
          <p:cNvPr id="4" name="Rounded Rectangle 3"/>
          <p:cNvSpPr/>
          <p:nvPr/>
        </p:nvSpPr>
        <p:spPr>
          <a:xfrm>
            <a:off x="731520" y="1554480"/>
            <a:ext cx="6217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 Verification Architecture &amp; Lifecycle</a:t>
            </a:r>
          </a:p>
          <a:p>
            <a:br/>
            <a:pPr>
              <a:defRPr sz="1100">
                <a:solidFill>
                  <a:srgbClr val="64748B"/>
                </a:solidFill>
              </a:defRPr>
            </a:pPr>
            <a:r>
              <a:t>1. Upload Fingerprinting:</a:t>
            </a:r>
            <a:br/>
            <a:r>
              <a:t>   When a student uploads a certificate, the server computes a 256-bit SHA-256 hash of the binary file content.</a:t>
            </a:r>
            <a:br/>
            <a:br/>
            <a:r>
              <a:t>2. UUID Token Assignment:</a:t>
            </a:r>
            <a:br/>
            <a:r>
              <a:t>   A unique UUIDv4 token is permanently assigned to the credential record.</a:t>
            </a:r>
            <a:br/>
            <a:br/>
            <a:r>
              <a:t>3. Dynamic QR Code Generation:</a:t>
            </a:r>
            <a:br/>
            <a:r>
              <a:t>   The system embeds a live verification link encoded into a QR code on certified transcripts.</a:t>
            </a:r>
            <a:br/>
            <a:br/>
            <a:r>
              <a:t>4. Public Real-Time Verification:</a:t>
            </a:r>
            <a:br/>
            <a:r>
              <a:t>   Anyone scanning the QR code or visiting verify_credential.php can validate authenticity instantly without needing an account.</a:t>
            </a:r>
          </a:p>
        </p:txBody>
      </p:sp>
      <p:sp>
        <p:nvSpPr>
          <p:cNvPr id="5" name="Rounded Rectangle 4"/>
          <p:cNvSpPr/>
          <p:nvPr/>
        </p:nvSpPr>
        <p:spPr>
          <a:xfrm>
            <a:off x="7223760" y="1554480"/>
            <a:ext cx="4206240" cy="438912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563EB"/>
                </a:solidFill>
              </a:defRPr>
            </a:pPr>
            <a:r>
              <a:t>🛡️ Why Cryptographic Verification Matters</a:t>
            </a:r>
          </a:p>
          <a:p>
            <a:br/>
            <a:pPr>
              <a:defRPr sz="1200">
                <a:solidFill>
                  <a:srgbClr val="0F172A"/>
                </a:solidFill>
              </a:defRPr>
            </a:pPr>
            <a:r>
              <a:t>• Zero Certificate Forgery: Changing a single pixel or character in a PDF alters the SHA-256 hash completely, invalidating the credential.</a:t>
            </a:r>
            <a:br/>
            <a:br/>
            <a:r>
              <a:t>• Public Registry Trust: External employers, visa officers, and graduate universities can verify institutional legitimacy.</a:t>
            </a:r>
            <a:br/>
            <a:br/>
            <a:r>
              <a:t>• Audit Logged: Every verification query is timestamped and recorded in verification_logs for compliance.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STUDENT EXPERIENCE</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Student Career Hub &amp; Verified Portfolio</a:t>
            </a:r>
          </a:p>
        </p:txBody>
      </p:sp>
      <p:sp>
        <p:nvSpPr>
          <p:cNvPr id="4" name="Rounded Rectangle 3"/>
          <p:cNvSpPr/>
          <p:nvPr/>
        </p:nvSpPr>
        <p:spPr>
          <a:xfrm>
            <a:off x="7315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Achievement Submission</a:t>
            </a:r>
          </a:p>
          <a:p>
            <a:br/>
            <a:pPr>
              <a:defRPr sz="1200">
                <a:solidFill>
                  <a:srgbClr val="64748B"/>
                </a:solidFill>
              </a:defRPr>
            </a:pPr>
            <a:r>
              <a:t>• Structured Metadata: Event name, category, organizer, date, award type (Winner, Runner-up, Participant).</a:t>
            </a:r>
            <a:br/>
            <a:br/>
            <a:r>
              <a:t>• Multi-Format Proof: Supports high-resolution images (JPEG/PNG) and multi-page PDF documents.</a:t>
            </a:r>
            <a:br/>
            <a:br/>
            <a:r>
              <a:t>• Resubmission Workflow: Clear feedback loop with faculty notes if revisions are needed.</a:t>
            </a:r>
          </a:p>
        </p:txBody>
      </p:sp>
      <p:sp>
        <p:nvSpPr>
          <p:cNvPr id="5" name="Rounded Rectangle 4"/>
          <p:cNvSpPr/>
          <p:nvPr/>
        </p:nvSpPr>
        <p:spPr>
          <a:xfrm>
            <a:off x="43891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Career Profile &amp; Skills</a:t>
            </a:r>
          </a:p>
          <a:p>
            <a:br/>
            <a:pPr>
              <a:defRPr sz="1200">
                <a:solidFill>
                  <a:srgbClr val="64748B"/>
                </a:solidFill>
              </a:defRPr>
            </a:pPr>
            <a:r>
              <a:t>• Interactive Skill Tags: Add and manage skills (Python, Cloud, UI/UX, Data Science) with instant badges.</a:t>
            </a:r>
            <a:br/>
            <a:br/>
            <a:r>
              <a:t>• Professional Headline &amp; Bio: Customize public career statements and social profiles (LinkedIn, GitHub).</a:t>
            </a:r>
            <a:br/>
            <a:br/>
            <a:r>
              <a:t>• Open-to-Work Toggle: Control visibility to corporate recruiters with a single click.</a:t>
            </a:r>
          </a:p>
        </p:txBody>
      </p:sp>
      <p:sp>
        <p:nvSpPr>
          <p:cNvPr id="6" name="Rounded Rectangle 5"/>
          <p:cNvSpPr/>
          <p:nvPr/>
        </p:nvSpPr>
        <p:spPr>
          <a:xfrm>
            <a:off x="80467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Transcripts &amp; Inquiries</a:t>
            </a:r>
          </a:p>
          <a:p>
            <a:br/>
            <a:pPr>
              <a:defRPr sz="1200">
                <a:solidFill>
                  <a:srgbClr val="64748B"/>
                </a:solidFill>
              </a:defRPr>
            </a:pPr>
            <a:r>
              <a:t>• Certified Transcript PDF: Generates institutional transcripts with official header and QR verification.</a:t>
            </a:r>
            <a:br/>
            <a:br/>
            <a:r>
              <a:t>• Public Portfolio Link: Shareable web portfolio accessible to recruiters without login.</a:t>
            </a:r>
            <a:br/>
            <a:br/>
            <a:r>
              <a:t>• Inquiries Inbox: Receive, accept, or decline interview invites directly from prospective employers.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ADMINISTRATIVE INTELLIGENCE</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Institutional Governance &amp; Accreditation Readiness</a:t>
            </a:r>
          </a:p>
        </p:txBody>
      </p:sp>
      <p:sp>
        <p:nvSpPr>
          <p:cNvPr id="4" name="Rounded Rectangle 3"/>
          <p:cNvSpPr/>
          <p:nvPr/>
        </p:nvSpPr>
        <p:spPr>
          <a:xfrm>
            <a:off x="731520" y="1554480"/>
            <a:ext cx="106984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Automated Accreditation Readiness (NAAC Criterion 5 &amp; NIRF)</a:t>
            </a:r>
          </a:p>
          <a:p>
            <a:pPr>
              <a:defRPr sz="1150">
                <a:solidFill>
                  <a:srgbClr val="64748B"/>
                </a:solidFill>
              </a:defRPr>
            </a:pPr>
            <a:r>
              <a:t>• Manual collation of student extracurricular activities for NAAC accreditation Criterion 5 (Student Support &amp; Progression) traditionally takes departments weeks of paperwork.</a:t>
            </a:r>
            <a:br/>
            <a:r>
              <a:t>• CampusCred transforms this into instant, 1-click audit-ready CSV and PDF reports categorized by National, International, State, and Inter-College levels.</a:t>
            </a:r>
            <a:br/>
            <a:r>
              <a:t>• Full audit trails ensure complete traceability for government and accreditation inspectors.</a:t>
            </a:r>
          </a:p>
        </p:txBody>
      </p:sp>
      <p:sp>
        <p:nvSpPr>
          <p:cNvPr id="5" name="Rounded Rectangle 4"/>
          <p:cNvSpPr/>
          <p:nvPr/>
        </p:nvSpPr>
        <p:spPr>
          <a:xfrm>
            <a:off x="731520" y="384048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 Interactive Visual Analytics</a:t>
            </a:r>
          </a:p>
          <a:p>
            <a:pPr>
              <a:defRPr sz="1100">
                <a:solidFill>
                  <a:srgbClr val="64748B"/>
                </a:solidFill>
              </a:defRPr>
            </a:pPr>
            <a:r>
              <a:t>• Real-time Chart.js interactive charts</a:t>
            </a:r>
            <a:br/>
            <a:r>
              <a:t>• Department-wise participation distribution</a:t>
            </a:r>
            <a:br/>
            <a:r>
              <a:t>• Monthly achievement trends &amp; velocity</a:t>
            </a:r>
            <a:br/>
            <a:r>
              <a:t>• Verification status breakdown &amp; turnaround time</a:t>
            </a:r>
          </a:p>
        </p:txBody>
      </p:sp>
      <p:sp>
        <p:nvSpPr>
          <p:cNvPr id="6" name="Rounded Rectangle 5"/>
          <p:cNvSpPr/>
          <p:nvPr/>
        </p:nvSpPr>
        <p:spPr>
          <a:xfrm>
            <a:off x="6217920" y="384048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 Efficient Verification Queue</a:t>
            </a:r>
          </a:p>
          <a:p>
            <a:pPr>
              <a:defRPr sz="1100">
                <a:solidFill>
                  <a:srgbClr val="64748B"/>
                </a:solidFill>
              </a:defRPr>
            </a:pPr>
            <a:r>
              <a:t>• Fast two-pane document inspection interface</a:t>
            </a:r>
            <a:br/>
            <a:r>
              <a:t>• 1-Click Approve, Reject, or Request Revision</a:t>
            </a:r>
            <a:br/>
            <a:r>
              <a:t>• Batch processing for high-volume college events</a:t>
            </a:r>
            <a:br/>
            <a:r>
              <a:t>• Automatic email and dashboard notifications to students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GENERAL ADOPTABILITY</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Universal Institutional Customization &amp; Self-Healing Setup</a:t>
            </a:r>
          </a:p>
        </p:txBody>
      </p:sp>
      <p:sp>
        <p:nvSpPr>
          <p:cNvPr id="4" name="Rounded Rectangle 3"/>
          <p:cNvSpPr/>
          <p:nvPr/>
        </p:nvSpPr>
        <p:spPr>
          <a:xfrm>
            <a:off x="7315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Central Config Engine</a:t>
            </a:r>
          </a:p>
          <a:p>
            <a:br/>
            <a:pPr>
              <a:defRPr sz="1150">
                <a:solidFill>
                  <a:srgbClr val="64748B"/>
                </a:solidFill>
              </a:defRPr>
            </a:pPr>
            <a:r>
              <a:t>• Single-File Customization (config.php): Customize college name, short code, project code, and logo in 30 seconds.</a:t>
            </a:r>
            <a:br/>
            <a:br/>
            <a:r>
              <a:t>• Zero Hardcoded Strings: Adapts immediately for engineering institutes, arts colleges, universities, or medical academies.</a:t>
            </a:r>
            <a:br/>
            <a:br/>
            <a:r>
              <a:t>• Dynamic Root Detection: Seamlessly works whether installed in /campuscred or root domain.</a:t>
            </a:r>
          </a:p>
        </p:txBody>
      </p:sp>
      <p:sp>
        <p:nvSpPr>
          <p:cNvPr id="5" name="Rounded Rectangle 4"/>
          <p:cNvSpPr/>
          <p:nvPr/>
        </p:nvSpPr>
        <p:spPr>
          <a:xfrm>
            <a:off x="43891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Self-Healing Database</a:t>
            </a:r>
          </a:p>
          <a:p>
            <a:br/>
            <a:pPr>
              <a:defRPr sz="1150">
                <a:solidFill>
                  <a:srgbClr val="64748B"/>
                </a:solidFill>
              </a:defRPr>
            </a:pPr>
            <a:r>
              <a:t>• Zero Manual SQL Runs: Automated auto_migrate_schema() runs on first request.</a:t>
            </a:r>
            <a:br/>
            <a:br/>
            <a:r>
              <a:t>• Smart Column Detection: Automatically checks for missing columns and provisions tables without crashing.</a:t>
            </a:r>
            <a:br/>
            <a:br/>
            <a:r>
              <a:t>• Automatic Seeding: Generates clean, production-ready demo data with secure password hashes.</a:t>
            </a:r>
          </a:p>
        </p:txBody>
      </p:sp>
      <p:sp>
        <p:nvSpPr>
          <p:cNvPr id="6" name="Rounded Rectangle 5"/>
          <p:cNvSpPr/>
          <p:nvPr/>
        </p:nvSpPr>
        <p:spPr>
          <a:xfrm>
            <a:off x="8046720" y="155448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F172A"/>
                </a:solidFill>
              </a:defRPr>
            </a:pPr>
            <a:r>
              <a:t>🌐 Cloud &amp; Shared Hosting</a:t>
            </a:r>
          </a:p>
          <a:p>
            <a:br/>
            <a:pPr>
              <a:defRPr sz="1150">
                <a:solidFill>
                  <a:srgbClr val="64748B"/>
                </a:solidFill>
              </a:defRPr>
            </a:pPr>
            <a:r>
              <a:t>• InfinityFree &amp; cPanel Optimized: Direct database connections without requiring forbidden CREATE DATABASE privileges.</a:t>
            </a:r>
            <a:br/>
            <a:br/>
            <a:r>
              <a:t>• 1-Click Web Installer (install.php): Beautiful graphical setup wizard for non-technical administrators.</a:t>
            </a:r>
            <a:br/>
            <a:br/>
            <a:r>
              <a:t>• Docker &amp; Compose Stack: Instant containerized deployment on any cloud server (AWS, Render).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DEPLOYMENT &amp; HOSTING</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Live Deployment Matrix &amp; Environment Readiness</a:t>
            </a:r>
          </a:p>
        </p:txBody>
      </p:sp>
      <p:graphicFrame>
        <p:nvGraphicFramePr>
          <p:cNvPr id="4" name="Table 3"/>
          <p:cNvGraphicFramePr>
            <a:graphicFrameLocks noGrp="1"/>
          </p:cNvGraphicFramePr>
          <p:nvPr/>
        </p:nvGraphicFramePr>
        <p:xfrm>
          <a:off x="731520" y="1554480"/>
          <a:ext cx="10698480" cy="4206240"/>
        </p:xfrm>
        <a:graphic>
          <a:graphicData uri="http://schemas.openxmlformats.org/drawingml/2006/table">
            <a:tbl>
              <a:tblPr firstRow="1" bandRow="1">
                <a:tableStyleId>{5C22544A-7EE6-4342-B048-85BDC9FD1C3A}</a:tableStyleId>
              </a:tblPr>
              <a:tblGrid>
                <a:gridCol w="2377440"/>
                <a:gridCol w="2926080"/>
                <a:gridCol w="2743200"/>
                <a:gridCol w="2651760"/>
              </a:tblGrid>
              <a:tr h="841248">
                <a:tc>
                  <a:txBody>
                    <a:bodyPr/>
                    <a:lstStyle/>
                    <a:p>
                      <a:pPr>
                        <a:defRPr sz="1100" b="1">
                          <a:solidFill>
                            <a:srgbClr val="FFFFFF"/>
                          </a:solidFill>
                        </a:defRPr>
                      </a:pPr>
                      <a:r>
                        <a:t>Deployment Environment</a:t>
                      </a:r>
                    </a:p>
                  </a:txBody>
                  <a:tcPr>
                    <a:solidFill>
                      <a:srgbClr val="0F172A"/>
                    </a:solidFill>
                  </a:tcPr>
                </a:tc>
                <a:tc>
                  <a:txBody>
                    <a:bodyPr/>
                    <a:lstStyle/>
                    <a:p>
                      <a:pPr>
                        <a:defRPr sz="1100" b="1">
                          <a:solidFill>
                            <a:srgbClr val="FFFFFF"/>
                          </a:solidFill>
                        </a:defRPr>
                      </a:pPr>
                      <a:r>
                        <a:t>Target URL / Access Mode</a:t>
                      </a:r>
                    </a:p>
                  </a:txBody>
                  <a:tcPr>
                    <a:solidFill>
                      <a:srgbClr val="0F172A"/>
                    </a:solidFill>
                  </a:tcPr>
                </a:tc>
                <a:tc>
                  <a:txBody>
                    <a:bodyPr/>
                    <a:lstStyle/>
                    <a:p>
                      <a:pPr>
                        <a:defRPr sz="1100" b="1">
                          <a:solidFill>
                            <a:srgbClr val="FFFFFF"/>
                          </a:solidFill>
                        </a:defRPr>
                      </a:pPr>
                      <a:r>
                        <a:t>Database Architecture</a:t>
                      </a:r>
                    </a:p>
                  </a:txBody>
                  <a:tcPr>
                    <a:solidFill>
                      <a:srgbClr val="0F172A"/>
                    </a:solidFill>
                  </a:tcPr>
                </a:tc>
                <a:tc>
                  <a:txBody>
                    <a:bodyPr/>
                    <a:lstStyle/>
                    <a:p>
                      <a:pPr>
                        <a:defRPr sz="1100" b="1">
                          <a:solidFill>
                            <a:srgbClr val="FFFFFF"/>
                          </a:solidFill>
                        </a:defRPr>
                      </a:pPr>
                      <a:r>
                        <a:t>Key Readiness Asset</a:t>
                      </a:r>
                    </a:p>
                  </a:txBody>
                  <a:tcPr>
                    <a:solidFill>
                      <a:srgbClr val="0F172A"/>
                    </a:solidFill>
                  </a:tcPr>
                </a:tc>
              </a:tr>
              <a:tr h="841248">
                <a:tc>
                  <a:txBody>
                    <a:bodyPr/>
                    <a:lstStyle/>
                    <a:p>
                      <a:pPr>
                        <a:defRPr sz="1000">
                          <a:solidFill>
                            <a:srgbClr val="0F172A"/>
                          </a:solidFill>
                        </a:defRPr>
                      </a:pPr>
                      <a:r>
                        <a:t>Local Production (XAMPP)</a:t>
                      </a:r>
                    </a:p>
                  </a:txBody>
                  <a:tcPr>
                    <a:solidFill>
                      <a:srgbClr val="FFFFFF"/>
                    </a:solidFill>
                  </a:tcPr>
                </a:tc>
                <a:tc>
                  <a:txBody>
                    <a:bodyPr/>
                    <a:lstStyle/>
                    <a:p>
                      <a:pPr>
                        <a:defRPr sz="1000">
                          <a:solidFill>
                            <a:srgbClr val="0F172A"/>
                          </a:solidFill>
                        </a:defRPr>
                      </a:pPr>
                      <a:r>
                        <a:t>http://localhost/campuscred/</a:t>
                      </a:r>
                      <a:br/>
                      <a:r>
                        <a:t>http://192.168.2.82/campuscred/</a:t>
                      </a:r>
                    </a:p>
                  </a:txBody>
                  <a:tcPr>
                    <a:solidFill>
                      <a:srgbClr val="FFFFFF"/>
                    </a:solidFill>
                  </a:tcPr>
                </a:tc>
                <a:tc>
                  <a:txBody>
                    <a:bodyPr/>
                    <a:lstStyle/>
                    <a:p>
                      <a:pPr>
                        <a:defRPr sz="1000">
                          <a:solidFill>
                            <a:srgbClr val="0F172A"/>
                          </a:solidFill>
                        </a:defRPr>
                      </a:pPr>
                      <a:r>
                        <a:t>MySQL 8.0 / InnoDB (Port 3306)</a:t>
                      </a:r>
                    </a:p>
                  </a:txBody>
                  <a:tcPr>
                    <a:solidFill>
                      <a:srgbClr val="FFFFFF"/>
                    </a:solidFill>
                  </a:tcPr>
                </a:tc>
                <a:tc>
                  <a:txBody>
                    <a:bodyPr/>
                    <a:lstStyle/>
                    <a:p>
                      <a:pPr>
                        <a:defRPr sz="1000">
                          <a:solidFill>
                            <a:srgbClr val="0F172A"/>
                          </a:solidFill>
                        </a:defRPr>
                      </a:pPr>
                      <a:r>
                        <a:t>1-Click deploy.bat Launcher</a:t>
                      </a:r>
                    </a:p>
                  </a:txBody>
                  <a:tcPr>
                    <a:solidFill>
                      <a:srgbClr val="FFFFFF"/>
                    </a:solidFill>
                  </a:tcPr>
                </a:tc>
              </a:tr>
              <a:tr h="841248">
                <a:tc>
                  <a:txBody>
                    <a:bodyPr/>
                    <a:lstStyle/>
                    <a:p>
                      <a:pPr>
                        <a:defRPr sz="1000">
                          <a:solidFill>
                            <a:srgbClr val="0F172A"/>
                          </a:solidFill>
                        </a:defRPr>
                      </a:pPr>
                      <a:r>
                        <a:t>Free Cloud Hosting (InfinityFree)</a:t>
                      </a:r>
                    </a:p>
                  </a:txBody>
                  <a:tcPr>
                    <a:solidFill>
                      <a:srgbClr val="F8FAFC"/>
                    </a:solidFill>
                  </a:tcPr>
                </a:tc>
                <a:tc>
                  <a:txBody>
                    <a:bodyPr/>
                    <a:lstStyle/>
                    <a:p>
                      <a:pPr>
                        <a:defRPr sz="1000">
                          <a:solidFill>
                            <a:srgbClr val="0F172A"/>
                          </a:solidFill>
                        </a:defRPr>
                      </a:pPr>
                      <a:r>
                        <a:t>https://mycampuscred.infinityfreeapp.com/</a:t>
                      </a:r>
                    </a:p>
                  </a:txBody>
                  <a:tcPr>
                    <a:solidFill>
                      <a:srgbClr val="F8FAFC"/>
                    </a:solidFill>
                  </a:tcPr>
                </a:tc>
                <a:tc>
                  <a:txBody>
                    <a:bodyPr/>
                    <a:lstStyle/>
                    <a:p>
                      <a:pPr>
                        <a:defRPr sz="1000">
                          <a:solidFill>
                            <a:srgbClr val="0F172A"/>
                          </a:solidFill>
                        </a:defRPr>
                      </a:pPr>
                      <a:r>
                        <a:t>Remote Cluster (sqlxxx.infinityfree.com)</a:t>
                      </a:r>
                    </a:p>
                  </a:txBody>
                  <a:tcPr>
                    <a:solidFill>
                      <a:srgbClr val="F8FAFC"/>
                    </a:solidFill>
                  </a:tcPr>
                </a:tc>
                <a:tc>
                  <a:txBody>
                    <a:bodyPr/>
                    <a:lstStyle/>
                    <a:p>
                      <a:pPr>
                        <a:defRPr sz="1000">
                          <a:solidFill>
                            <a:srgbClr val="0F172A"/>
                          </a:solidFill>
                        </a:defRPr>
                      </a:pPr>
                      <a:r>
                        <a:t>install.php Web Installer Wizard</a:t>
                      </a:r>
                    </a:p>
                  </a:txBody>
                  <a:tcPr>
                    <a:solidFill>
                      <a:srgbClr val="F8FAFC"/>
                    </a:solidFill>
                  </a:tcPr>
                </a:tc>
              </a:tr>
              <a:tr h="841248">
                <a:tc>
                  <a:txBody>
                    <a:bodyPr/>
                    <a:lstStyle/>
                    <a:p>
                      <a:pPr>
                        <a:defRPr sz="1000">
                          <a:solidFill>
                            <a:srgbClr val="0F172A"/>
                          </a:solidFill>
                        </a:defRPr>
                      </a:pPr>
                      <a:r>
                        <a:t>Docker Containers</a:t>
                      </a:r>
                    </a:p>
                  </a:txBody>
                  <a:tcPr>
                    <a:solidFill>
                      <a:srgbClr val="FFFFFF"/>
                    </a:solidFill>
                  </a:tcPr>
                </a:tc>
                <a:tc>
                  <a:txBody>
                    <a:bodyPr/>
                    <a:lstStyle/>
                    <a:p>
                      <a:pPr>
                        <a:defRPr sz="1000">
                          <a:solidFill>
                            <a:srgbClr val="0F172A"/>
                          </a:solidFill>
                        </a:defRPr>
                      </a:pPr>
                      <a:r>
                        <a:t>http://localhost:8080/ (App)</a:t>
                      </a:r>
                      <a:br/>
                      <a:r>
                        <a:t>Port 3307 (MySQL)</a:t>
                      </a:r>
                    </a:p>
                  </a:txBody>
                  <a:tcPr>
                    <a:solidFill>
                      <a:srgbClr val="FFFFFF"/>
                    </a:solidFill>
                  </a:tcPr>
                </a:tc>
                <a:tc>
                  <a:txBody>
                    <a:bodyPr/>
                    <a:lstStyle/>
                    <a:p>
                      <a:pPr>
                        <a:defRPr sz="1000">
                          <a:solidFill>
                            <a:srgbClr val="0F172A"/>
                          </a:solidFill>
                        </a:defRPr>
                      </a:pPr>
                      <a:r>
                        <a:t>Isolated MySQL 8.0 container with persistent volume</a:t>
                      </a:r>
                    </a:p>
                  </a:txBody>
                  <a:tcPr>
                    <a:solidFill>
                      <a:srgbClr val="FFFFFF"/>
                    </a:solidFill>
                  </a:tcPr>
                </a:tc>
                <a:tc>
                  <a:txBody>
                    <a:bodyPr/>
                    <a:lstStyle/>
                    <a:p>
                      <a:pPr>
                        <a:defRPr sz="1000">
                          <a:solidFill>
                            <a:srgbClr val="0F172A"/>
                          </a:solidFill>
                        </a:defRPr>
                      </a:pPr>
                      <a:r>
                        <a:t>Dockerfile &amp; docker-compose.yml</a:t>
                      </a:r>
                    </a:p>
                  </a:txBody>
                  <a:tcPr>
                    <a:solidFill>
                      <a:srgbClr val="FFFFFF"/>
                    </a:solidFill>
                  </a:tcPr>
                </a:tc>
              </a:tr>
              <a:tr h="841248">
                <a:tc>
                  <a:txBody>
                    <a:bodyPr/>
                    <a:lstStyle/>
                    <a:p>
                      <a:pPr>
                        <a:defRPr sz="1000">
                          <a:solidFill>
                            <a:srgbClr val="0F172A"/>
                          </a:solidFill>
                        </a:defRPr>
                      </a:pPr>
                      <a:r>
                        <a:t>Enterprise Cloud (Render/AWS/cPanel)</a:t>
                      </a:r>
                    </a:p>
                  </a:txBody>
                  <a:tcPr>
                    <a:solidFill>
                      <a:srgbClr val="F8FAFC"/>
                    </a:solidFill>
                  </a:tcPr>
                </a:tc>
                <a:tc>
                  <a:txBody>
                    <a:bodyPr/>
                    <a:lstStyle/>
                    <a:p>
                      <a:pPr>
                        <a:defRPr sz="1000">
                          <a:solidFill>
                            <a:srgbClr val="0F172A"/>
                          </a:solidFill>
                        </a:defRPr>
                      </a:pPr>
                      <a:r>
                        <a:t>https://campuscred.your-domain.edu/</a:t>
                      </a:r>
                    </a:p>
                  </a:txBody>
                  <a:tcPr>
                    <a:solidFill>
                      <a:srgbClr val="F8FAFC"/>
                    </a:solidFill>
                  </a:tcPr>
                </a:tc>
                <a:tc>
                  <a:txBody>
                    <a:bodyPr/>
                    <a:lstStyle/>
                    <a:p>
                      <a:pPr>
                        <a:defRPr sz="1000">
                          <a:solidFill>
                            <a:srgbClr val="0F172A"/>
                          </a:solidFill>
                        </a:defRPr>
                      </a:pPr>
                      <a:r>
                        <a:t>Managed Cloud RDS / MariaDB Cluster</a:t>
                      </a:r>
                    </a:p>
                  </a:txBody>
                  <a:tcPr>
                    <a:solidFill>
                      <a:srgbClr val="F8FAFC"/>
                    </a:solidFill>
                  </a:tcPr>
                </a:tc>
                <a:tc>
                  <a:txBody>
                    <a:bodyPr/>
                    <a:lstStyle/>
                    <a:p>
                      <a:pPr>
                        <a:defRPr sz="1000">
                          <a:solidFill>
                            <a:srgbClr val="0F172A"/>
                          </a:solidFill>
                        </a:defRPr>
                      </a:pPr>
                      <a:r>
                        <a:t>Proxy SSL &amp; Reverse Proxy Headers</a:t>
                      </a:r>
                    </a:p>
                  </a:txBody>
                  <a:tcPr>
                    <a:solidFill>
                      <a:srgbClr val="F8FA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563EB"/>
                </a:solidFill>
              </a:defRPr>
            </a:pPr>
            <a:r>
              <a:t>PRODUCT ROADMAP</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0F172A"/>
                </a:solidFill>
              </a:defRPr>
            </a:pPr>
            <a:r>
              <a:t>Strategic Roadmap &amp; Future Innovations</a:t>
            </a:r>
          </a:p>
        </p:txBody>
      </p:sp>
      <p:sp>
        <p:nvSpPr>
          <p:cNvPr id="4" name="Rounded Rectangle 3"/>
          <p:cNvSpPr/>
          <p:nvPr/>
        </p:nvSpPr>
        <p:spPr>
          <a:xfrm>
            <a:off x="731520" y="1554480"/>
            <a:ext cx="24688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Phase 1: Present</a:t>
            </a:r>
          </a:p>
          <a:p>
            <a:pPr>
              <a:defRPr sz="1400" b="1">
                <a:solidFill>
                  <a:srgbClr val="0F172A"/>
                </a:solidFill>
              </a:defRPr>
            </a:pPr>
            <a:r>
              <a:t>Core Ecosystem</a:t>
            </a:r>
          </a:p>
          <a:p>
            <a:br/>
            <a:pPr>
              <a:defRPr sz="1050">
                <a:solidFill>
                  <a:srgbClr val="64748B"/>
                </a:solidFill>
              </a:defRPr>
            </a:pPr>
            <a:r>
              <a:t>• Student, Admin &amp; Recruiter portals</a:t>
            </a:r>
            <a:br/>
            <a:r>
              <a:t>• Cryptographic SHA-256 seal</a:t>
            </a:r>
            <a:br/>
            <a:r>
              <a:t>• Real-time QR verification</a:t>
            </a:r>
            <a:br/>
            <a:r>
              <a:t>• NAAC/NIRF audit reports</a:t>
            </a:r>
            <a:br/>
            <a:r>
              <a:t>• Multi-institution config engine</a:t>
            </a:r>
          </a:p>
        </p:txBody>
      </p:sp>
      <p:sp>
        <p:nvSpPr>
          <p:cNvPr id="5" name="Rounded Rectangle 4"/>
          <p:cNvSpPr/>
          <p:nvPr/>
        </p:nvSpPr>
        <p:spPr>
          <a:xfrm>
            <a:off x="3429000" y="1554480"/>
            <a:ext cx="24688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Phase 2: Near-Term</a:t>
            </a:r>
          </a:p>
          <a:p>
            <a:pPr>
              <a:defRPr sz="1400" b="1">
                <a:solidFill>
                  <a:srgbClr val="0F172A"/>
                </a:solidFill>
              </a:defRPr>
            </a:pPr>
            <a:r>
              <a:t>AI OCR &amp; Auto-Extraction</a:t>
            </a:r>
          </a:p>
          <a:p>
            <a:br/>
            <a:pPr>
              <a:defRPr sz="1050">
                <a:solidFill>
                  <a:srgbClr val="64748B"/>
                </a:solidFill>
              </a:defRPr>
            </a:pPr>
            <a:r>
              <a:t>• Computer Vision OCR to extract event dates, names &amp; rank from uploaded certificates</a:t>
            </a:r>
            <a:br/>
            <a:r>
              <a:t>• Automatic category classification</a:t>
            </a:r>
            <a:br/>
            <a:r>
              <a:t>• Duplicate certificate detector</a:t>
            </a:r>
          </a:p>
        </p:txBody>
      </p:sp>
      <p:sp>
        <p:nvSpPr>
          <p:cNvPr id="6" name="Rounded Rectangle 5"/>
          <p:cNvSpPr/>
          <p:nvPr/>
        </p:nvSpPr>
        <p:spPr>
          <a:xfrm>
            <a:off x="6126480" y="1554480"/>
            <a:ext cx="24688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defRPr>
            </a:pPr>
            <a:r>
              <a:t>Phase 3: Expansion</a:t>
            </a:r>
          </a:p>
          <a:p>
            <a:pPr>
              <a:defRPr sz="1400" b="1">
                <a:solidFill>
                  <a:srgbClr val="0F172A"/>
                </a:solidFill>
              </a:defRPr>
            </a:pPr>
            <a:r>
              <a:t>Blockchain Credentials</a:t>
            </a:r>
          </a:p>
          <a:p>
            <a:br/>
            <a:pPr>
              <a:defRPr sz="1050">
                <a:solidFill>
                  <a:srgbClr val="64748B"/>
                </a:solidFill>
              </a:defRPr>
            </a:pPr>
            <a:r>
              <a:t>• W3C Verifiable Credentials standard</a:t>
            </a:r>
            <a:br/>
            <a:r>
              <a:t>• Ethereum/Polygon tokenized certificates</a:t>
            </a:r>
            <a:br/>
            <a:r>
              <a:t>• Tamper-proof decentralized ledger anchoring for lifetime proof</a:t>
            </a:r>
          </a:p>
        </p:txBody>
      </p:sp>
      <p:sp>
        <p:nvSpPr>
          <p:cNvPr id="7" name="Rounded Rectangle 6"/>
          <p:cNvSpPr/>
          <p:nvPr/>
        </p:nvSpPr>
        <p:spPr>
          <a:xfrm>
            <a:off x="8823960" y="1554480"/>
            <a:ext cx="24688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Phase 4: Ecosystem</a:t>
            </a:r>
          </a:p>
          <a:p>
            <a:pPr>
              <a:defRPr sz="1400" b="1">
                <a:solidFill>
                  <a:srgbClr val="0F172A"/>
                </a:solidFill>
              </a:defRPr>
            </a:pPr>
            <a:r>
              <a:t>Enterprise Recruitment</a:t>
            </a:r>
          </a:p>
          <a:p>
            <a:br/>
            <a:pPr>
              <a:defRPr sz="1050">
                <a:solidFill>
                  <a:srgbClr val="64748B"/>
                </a:solidFill>
              </a:defRPr>
            </a:pPr>
            <a:r>
              <a:t>• Automated 1-click LinkedIn badges</a:t>
            </a:r>
            <a:br/>
            <a:r>
              <a:t>• Campus placement drive manager</a:t>
            </a:r>
            <a:br/>
            <a:r>
              <a:t>• Video interview scheduler integration</a:t>
            </a:r>
            <a:br/>
            <a:r>
              <a:t>• Automated ATS resume parser sync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10515600" cy="1097280"/>
          </a:xfrm>
          <a:prstGeom prst="rect">
            <a:avLst/>
          </a:prstGeom>
          <a:noFill/>
        </p:spPr>
        <p:txBody>
          <a:bodyPr wrap="none">
            <a:spAutoFit/>
          </a:bodyPr>
          <a:lstStyle/>
          <a:p>
            <a:pPr>
              <a:defRPr sz="3000" b="1">
                <a:solidFill>
                  <a:srgbClr val="FFFFFF"/>
                </a:solidFill>
              </a:defRPr>
            </a:pPr>
            <a:r>
              <a:t>CampusCred: Empowering Academic &amp; Career Trust</a:t>
            </a:r>
          </a:p>
          <a:p>
            <a:pPr>
              <a:defRPr sz="1400">
                <a:solidFill>
                  <a:srgbClr val="F59E0B"/>
                </a:solidFill>
              </a:defRPr>
            </a:pPr>
            <a:r>
              <a:t>Experience the live platform across all three role portals:</a:t>
            </a:r>
          </a:p>
        </p:txBody>
      </p:sp>
      <p:sp>
        <p:nvSpPr>
          <p:cNvPr id="4" name="Rounded Rectangle 3"/>
          <p:cNvSpPr/>
          <p:nvPr/>
        </p:nvSpPr>
        <p:spPr>
          <a:xfrm>
            <a:off x="731520" y="2011680"/>
            <a:ext cx="3383280" cy="329184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 Corporate Recruiter Portal</a:t>
            </a:r>
          </a:p>
          <a:p>
            <a:br/>
            <a:pPr>
              <a:defRPr sz="1150">
                <a:solidFill>
                  <a:srgbClr val="FFFFFF"/>
                </a:solidFill>
              </a:defRPr>
            </a:pPr>
            <a:r>
              <a:t>Email:</a:t>
            </a:r>
            <a:br/>
            <a:r>
              <a:t>recruiter@techcorp.com</a:t>
            </a:r>
            <a:br/>
            <a:br/>
            <a:r>
              <a:t>Password:</a:t>
            </a:r>
            <a:br/>
            <a:r>
              <a:t>Recruiter@123</a:t>
            </a:r>
            <a:br/>
            <a:br/>
            <a:r>
              <a:t>Capabilities:</a:t>
            </a:r>
            <a:br/>
            <a:r>
              <a:t>Filter talent, view verified certificates, manage candidate pipeline, send interview offers.</a:t>
            </a:r>
          </a:p>
        </p:txBody>
      </p:sp>
      <p:sp>
        <p:nvSpPr>
          <p:cNvPr id="5" name="Rounded Rectangle 4"/>
          <p:cNvSpPr/>
          <p:nvPr/>
        </p:nvSpPr>
        <p:spPr>
          <a:xfrm>
            <a:off x="4389120" y="2011680"/>
            <a:ext cx="3383280" cy="329184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563EB"/>
                </a:solidFill>
              </a:defRPr>
            </a:pPr>
            <a:r>
              <a:t>🎓 Student Career Hub</a:t>
            </a:r>
          </a:p>
          <a:p>
            <a:br/>
            <a:pPr>
              <a:defRPr sz="1150">
                <a:solidFill>
                  <a:srgbClr val="FFFFFF"/>
                </a:solidFill>
              </a:defRPr>
            </a:pPr>
            <a:r>
              <a:t>Email:</a:t>
            </a:r>
            <a:br/>
            <a:r>
              <a:t>aravind@skit.ac.in</a:t>
            </a:r>
            <a:br/>
            <a:br/>
            <a:r>
              <a:t>Password:</a:t>
            </a:r>
            <a:br/>
            <a:r>
              <a:t>Student@123</a:t>
            </a:r>
            <a:br/>
            <a:br/>
            <a:r>
              <a:t>Capabilities:</a:t>
            </a:r>
            <a:br/>
            <a:r>
              <a:t>Upload achievements, print verified transcripts, manage skill tags, receive recruiter job offers.</a:t>
            </a:r>
          </a:p>
        </p:txBody>
      </p:sp>
      <p:sp>
        <p:nvSpPr>
          <p:cNvPr id="6" name="Rounded Rectangle 5"/>
          <p:cNvSpPr/>
          <p:nvPr/>
        </p:nvSpPr>
        <p:spPr>
          <a:xfrm>
            <a:off x="8046720" y="2011680"/>
            <a:ext cx="3383280" cy="329184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 Administrative Center</a:t>
            </a:r>
          </a:p>
          <a:p>
            <a:br/>
            <a:pPr>
              <a:defRPr sz="1150">
                <a:solidFill>
                  <a:srgbClr val="FFFFFF"/>
                </a:solidFill>
              </a:defRPr>
            </a:pPr>
            <a:r>
              <a:t>Email:</a:t>
            </a:r>
            <a:br/>
            <a:r>
              <a:t>admin@skit.ac.in</a:t>
            </a:r>
            <a:br/>
            <a:br/>
            <a:r>
              <a:t>Password:</a:t>
            </a:r>
            <a:br/>
            <a:r>
              <a:t>Admin@123</a:t>
            </a:r>
            <a:br/>
            <a:br/>
            <a:r>
              <a:t>Capabilities:</a:t>
            </a:r>
            <a:br/>
            <a:r>
              <a:t>Audit certificate proofs against SHA-256 hashes, approve/reject submissions, export NAAC/NIRF data.</a:t>
            </a:r>
          </a:p>
        </p:txBody>
      </p:sp>
      <p:sp>
        <p:nvSpPr>
          <p:cNvPr id="7" name="Rounded Rectangle 6"/>
          <p:cNvSpPr/>
          <p:nvPr/>
        </p:nvSpPr>
        <p:spPr>
          <a:xfrm>
            <a:off x="731520" y="5577840"/>
            <a:ext cx="10698480" cy="7772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Thank You!  ·  Questions &amp; Answers  ·  Live Demonstration: https://mycampuscred.infinityfreeapp.com/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